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osmic Octo Medium" panose="020B0604020202020204" charset="0"/>
      <p:regular r:id="rId8"/>
    </p:embeddedFont>
    <p:embeddedFont>
      <p:font typeface="TT Lakes Neue" panose="020B0604020202020204" charset="0"/>
      <p:regular r:id="rId9"/>
    </p:embeddedFont>
    <p:embeddedFont>
      <p:font typeface="TT Lakes Neue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571" y="2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sv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svg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sv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1.jpe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777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065390" y="4417406"/>
            <a:ext cx="6297316" cy="6408576"/>
          </a:xfrm>
          <a:custGeom>
            <a:avLst/>
            <a:gdLst/>
            <a:ahLst/>
            <a:cxnLst/>
            <a:rect l="l" t="t" r="r" b="b"/>
            <a:pathLst>
              <a:path w="6297316" h="6408576">
                <a:moveTo>
                  <a:pt x="0" y="0"/>
                </a:moveTo>
                <a:lnTo>
                  <a:pt x="6297316" y="0"/>
                </a:lnTo>
                <a:lnTo>
                  <a:pt x="6297316" y="6408576"/>
                </a:lnTo>
                <a:lnTo>
                  <a:pt x="0" y="640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TextBox 4"/>
          <p:cNvSpPr txBox="1"/>
          <p:nvPr/>
        </p:nvSpPr>
        <p:spPr>
          <a:xfrm>
            <a:off x="3067935" y="2658965"/>
            <a:ext cx="12152130" cy="248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882" spc="-117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BEHAVIOUR-BASED MALWARE DETECTION AND CLASSIFICATION SYSTEM</a:t>
            </a:r>
          </a:p>
        </p:txBody>
      </p:sp>
      <p:sp>
        <p:nvSpPr>
          <p:cNvPr id="5" name="Freeform 5"/>
          <p:cNvSpPr/>
          <p:nvPr/>
        </p:nvSpPr>
        <p:spPr>
          <a:xfrm>
            <a:off x="15829196" y="-2638867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1365269" y="-1849607"/>
            <a:ext cx="4961552" cy="4539651"/>
          </a:xfrm>
          <a:custGeom>
            <a:avLst/>
            <a:gdLst/>
            <a:ahLst/>
            <a:cxnLst/>
            <a:rect l="l" t="t" r="r" b="b"/>
            <a:pathLst>
              <a:path w="4961552" h="4539651">
                <a:moveTo>
                  <a:pt x="0" y="0"/>
                </a:moveTo>
                <a:lnTo>
                  <a:pt x="4961552" y="0"/>
                </a:lnTo>
                <a:lnTo>
                  <a:pt x="4961552" y="4539651"/>
                </a:lnTo>
                <a:lnTo>
                  <a:pt x="0" y="45396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grpSp>
        <p:nvGrpSpPr>
          <p:cNvPr id="7" name="Group 7"/>
          <p:cNvGrpSpPr/>
          <p:nvPr/>
        </p:nvGrpSpPr>
        <p:grpSpPr>
          <a:xfrm>
            <a:off x="6024250" y="6808778"/>
            <a:ext cx="6239500" cy="1104996"/>
            <a:chOff x="0" y="0"/>
            <a:chExt cx="1643325" cy="2910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3325" cy="291028"/>
            </a:xfrm>
            <a:custGeom>
              <a:avLst/>
              <a:gdLst/>
              <a:ahLst/>
              <a:cxnLst/>
              <a:rect l="l" t="t" r="r" b="b"/>
              <a:pathLst>
                <a:path w="1643325" h="291028">
                  <a:moveTo>
                    <a:pt x="124079" y="0"/>
                  </a:moveTo>
                  <a:lnTo>
                    <a:pt x="1519246" y="0"/>
                  </a:lnTo>
                  <a:cubicBezTo>
                    <a:pt x="1587773" y="0"/>
                    <a:pt x="1643325" y="55552"/>
                    <a:pt x="1643325" y="124079"/>
                  </a:cubicBezTo>
                  <a:lnTo>
                    <a:pt x="1643325" y="166949"/>
                  </a:lnTo>
                  <a:cubicBezTo>
                    <a:pt x="1643325" y="235476"/>
                    <a:pt x="1587773" y="291028"/>
                    <a:pt x="1519246" y="291028"/>
                  </a:cubicBezTo>
                  <a:lnTo>
                    <a:pt x="124079" y="291028"/>
                  </a:lnTo>
                  <a:cubicBezTo>
                    <a:pt x="55552" y="291028"/>
                    <a:pt x="0" y="235476"/>
                    <a:pt x="0" y="166949"/>
                  </a:cubicBezTo>
                  <a:lnTo>
                    <a:pt x="0" y="124079"/>
                  </a:lnTo>
                  <a:cubicBezTo>
                    <a:pt x="0" y="55552"/>
                    <a:pt x="55552" y="0"/>
                    <a:pt x="124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EBE">
                    <a:alpha val="100000"/>
                  </a:srgbClr>
                </a:gs>
                <a:gs pos="100000">
                  <a:srgbClr val="5C005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1643325" cy="262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400" spc="-48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  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13186217" y="9353023"/>
            <a:ext cx="4167806" cy="3978360"/>
          </a:xfrm>
          <a:custGeom>
            <a:avLst/>
            <a:gdLst/>
            <a:ahLst/>
            <a:cxnLst/>
            <a:rect l="l" t="t" r="r" b="b"/>
            <a:pathLst>
              <a:path w="4167806" h="3978360">
                <a:moveTo>
                  <a:pt x="0" y="0"/>
                </a:moveTo>
                <a:lnTo>
                  <a:pt x="4167806" y="0"/>
                </a:lnTo>
                <a:lnTo>
                  <a:pt x="4167806" y="3978360"/>
                </a:lnTo>
                <a:lnTo>
                  <a:pt x="0" y="3978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1" name="Freeform 11"/>
          <p:cNvSpPr/>
          <p:nvPr/>
        </p:nvSpPr>
        <p:spPr>
          <a:xfrm>
            <a:off x="16890874" y="4417406"/>
            <a:ext cx="1813514" cy="6535187"/>
          </a:xfrm>
          <a:custGeom>
            <a:avLst/>
            <a:gdLst/>
            <a:ahLst/>
            <a:cxnLst/>
            <a:rect l="l" t="t" r="r" b="b"/>
            <a:pathLst>
              <a:path w="1813514" h="6535187">
                <a:moveTo>
                  <a:pt x="0" y="0"/>
                </a:moveTo>
                <a:lnTo>
                  <a:pt x="1813514" y="0"/>
                </a:lnTo>
                <a:lnTo>
                  <a:pt x="1813514" y="6535187"/>
                </a:lnTo>
                <a:lnTo>
                  <a:pt x="0" y="65351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2" name="TextBox 12"/>
          <p:cNvSpPr txBox="1"/>
          <p:nvPr/>
        </p:nvSpPr>
        <p:spPr>
          <a:xfrm>
            <a:off x="5949703" y="5368598"/>
            <a:ext cx="6351586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36">
                <a:solidFill>
                  <a:srgbClr val="FC9AD6"/>
                </a:solidFill>
                <a:latin typeface="TT Lakes Neue"/>
                <a:ea typeface="TT Lakes Neue"/>
                <a:cs typeface="TT Lakes Neue"/>
                <a:sym typeface="TT Lakes Neue"/>
              </a:rPr>
              <a:t>Cybercrime &amp; IT Security</a:t>
            </a:r>
          </a:p>
          <a:p>
            <a:pPr algn="ctr">
              <a:lnSpc>
                <a:spcPts val="4680"/>
              </a:lnSpc>
            </a:pPr>
            <a:r>
              <a:rPr lang="en-US" sz="3600" spc="-36">
                <a:solidFill>
                  <a:srgbClr val="FC9AD6"/>
                </a:solidFill>
                <a:latin typeface="TT Lakes Neue"/>
                <a:ea typeface="TT Lakes Neue"/>
                <a:cs typeface="TT Lakes Neue"/>
                <a:sym typeface="TT Lakes Neue"/>
              </a:rPr>
              <a:t>Final Year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39343" y="7091083"/>
            <a:ext cx="6009314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spc="-3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Katie Maher | C00294512</a:t>
            </a:r>
          </a:p>
        </p:txBody>
      </p:sp>
      <p:sp>
        <p:nvSpPr>
          <p:cNvPr id="14" name="Freeform 14"/>
          <p:cNvSpPr/>
          <p:nvPr/>
        </p:nvSpPr>
        <p:spPr>
          <a:xfrm rot="-5400000" flipV="1">
            <a:off x="-2707814" y="1333614"/>
            <a:ext cx="4167806" cy="3978360"/>
          </a:xfrm>
          <a:custGeom>
            <a:avLst/>
            <a:gdLst/>
            <a:ahLst/>
            <a:cxnLst/>
            <a:rect l="l" t="t" r="r" b="b"/>
            <a:pathLst>
              <a:path w="4167806" h="3978360">
                <a:moveTo>
                  <a:pt x="0" y="3978361"/>
                </a:moveTo>
                <a:lnTo>
                  <a:pt x="4167806" y="3978361"/>
                </a:lnTo>
                <a:lnTo>
                  <a:pt x="4167806" y="0"/>
                </a:lnTo>
                <a:lnTo>
                  <a:pt x="0" y="0"/>
                </a:lnTo>
                <a:lnTo>
                  <a:pt x="0" y="39783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A40F7A2C-9D32-8167-CE84-B459FA8732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777"/>
    </mc:Choice>
    <mc:Fallback>
      <p:transition spd="slow" advTm="10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777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7233041" y="3635693"/>
            <a:ext cx="1919038" cy="6915453"/>
          </a:xfrm>
          <a:custGeom>
            <a:avLst/>
            <a:gdLst/>
            <a:ahLst/>
            <a:cxnLst/>
            <a:rect l="l" t="t" r="r" b="b"/>
            <a:pathLst>
              <a:path w="1919038" h="6915453">
                <a:moveTo>
                  <a:pt x="0" y="0"/>
                </a:moveTo>
                <a:lnTo>
                  <a:pt x="1919038" y="0"/>
                </a:lnTo>
                <a:lnTo>
                  <a:pt x="1919038" y="6915453"/>
                </a:lnTo>
                <a:lnTo>
                  <a:pt x="0" y="6915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 flipH="1">
            <a:off x="-864079" y="3635693"/>
            <a:ext cx="1919038" cy="6915453"/>
          </a:xfrm>
          <a:custGeom>
            <a:avLst/>
            <a:gdLst/>
            <a:ahLst/>
            <a:cxnLst/>
            <a:rect l="l" t="t" r="r" b="b"/>
            <a:pathLst>
              <a:path w="1919038" h="6915453">
                <a:moveTo>
                  <a:pt x="1919038" y="0"/>
                </a:moveTo>
                <a:lnTo>
                  <a:pt x="0" y="0"/>
                </a:lnTo>
                <a:lnTo>
                  <a:pt x="0" y="6915453"/>
                </a:lnTo>
                <a:lnTo>
                  <a:pt x="1919038" y="6915453"/>
                </a:lnTo>
                <a:lnTo>
                  <a:pt x="191903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2310171" y="4156557"/>
            <a:ext cx="6064479" cy="5101743"/>
          </a:xfrm>
          <a:custGeom>
            <a:avLst/>
            <a:gdLst/>
            <a:ahLst/>
            <a:cxnLst/>
            <a:rect l="l" t="t" r="r" b="b"/>
            <a:pathLst>
              <a:path w="6064479" h="5101743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9913350" y="4156557"/>
            <a:ext cx="6064479" cy="5101743"/>
          </a:xfrm>
          <a:custGeom>
            <a:avLst/>
            <a:gdLst/>
            <a:ahLst/>
            <a:cxnLst/>
            <a:rect l="l" t="t" r="r" b="b"/>
            <a:pathLst>
              <a:path w="6064479" h="5101743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TextBox 7"/>
          <p:cNvSpPr txBox="1"/>
          <p:nvPr/>
        </p:nvSpPr>
        <p:spPr>
          <a:xfrm>
            <a:off x="3869517" y="1076325"/>
            <a:ext cx="10548966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300" spc="-126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Ransomware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83998" y="4987376"/>
            <a:ext cx="5316825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Signature- based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85813" y="5922568"/>
            <a:ext cx="5713195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spc="-23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Signature - based detection matches known characteristics of previously identified malware. Ransomware can be modified to evade this detection.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6613" y="4987376"/>
            <a:ext cx="5117954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Behaviour - based detection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88992" y="5922568"/>
            <a:ext cx="5713195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spc="-23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Behaviour - based detection spots suspicious activity as it happens, so an attack could be stopped before full-disk encryption occurs.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781476" y="-2314447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3" name="Freeform 13"/>
          <p:cNvSpPr/>
          <p:nvPr/>
        </p:nvSpPr>
        <p:spPr>
          <a:xfrm>
            <a:off x="-2411084" y="-2314447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4" name="TextBox 14"/>
          <p:cNvSpPr txBox="1"/>
          <p:nvPr/>
        </p:nvSpPr>
        <p:spPr>
          <a:xfrm>
            <a:off x="2310171" y="2639618"/>
            <a:ext cx="13914992" cy="84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600" spc="-26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Ransomware encrypts a victims data and denies access until a ransom is paid, costing victims money and stopping organisations from functioning.</a:t>
            </a: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BEECF0B2-7E01-F30A-3651-9A629E2ACE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316"/>
    </mc:Choice>
    <mc:Fallback>
      <p:transition spd="slow" advTm="38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777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TextBox 3"/>
          <p:cNvSpPr txBox="1"/>
          <p:nvPr/>
        </p:nvSpPr>
        <p:spPr>
          <a:xfrm>
            <a:off x="9032254" y="960843"/>
            <a:ext cx="7358396" cy="584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spc="-80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AIms and Objectives</a:t>
            </a:r>
          </a:p>
        </p:txBody>
      </p:sp>
      <p:sp>
        <p:nvSpPr>
          <p:cNvPr id="4" name="Freeform 4"/>
          <p:cNvSpPr/>
          <p:nvPr/>
        </p:nvSpPr>
        <p:spPr>
          <a:xfrm>
            <a:off x="5111292" y="-2399209"/>
            <a:ext cx="3760621" cy="3827063"/>
          </a:xfrm>
          <a:custGeom>
            <a:avLst/>
            <a:gdLst/>
            <a:ahLst/>
            <a:cxnLst/>
            <a:rect l="l" t="t" r="r" b="b"/>
            <a:pathLst>
              <a:path w="3760621" h="3827063">
                <a:moveTo>
                  <a:pt x="0" y="0"/>
                </a:moveTo>
                <a:lnTo>
                  <a:pt x="3760621" y="0"/>
                </a:lnTo>
                <a:lnTo>
                  <a:pt x="3760621" y="3827063"/>
                </a:lnTo>
                <a:lnTo>
                  <a:pt x="0" y="38270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-1880310" y="8635940"/>
            <a:ext cx="3760621" cy="3827063"/>
          </a:xfrm>
          <a:custGeom>
            <a:avLst/>
            <a:gdLst/>
            <a:ahLst/>
            <a:cxnLst/>
            <a:rect l="l" t="t" r="r" b="b"/>
            <a:pathLst>
              <a:path w="3760621" h="3827063">
                <a:moveTo>
                  <a:pt x="0" y="0"/>
                </a:moveTo>
                <a:lnTo>
                  <a:pt x="3760620" y="0"/>
                </a:lnTo>
                <a:lnTo>
                  <a:pt x="3760620" y="3827063"/>
                </a:lnTo>
                <a:lnTo>
                  <a:pt x="0" y="38270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 rot="-5400000">
            <a:off x="16763391" y="-902697"/>
            <a:ext cx="3049219" cy="2910618"/>
          </a:xfrm>
          <a:custGeom>
            <a:avLst/>
            <a:gdLst/>
            <a:ahLst/>
            <a:cxnLst/>
            <a:rect l="l" t="t" r="r" b="b"/>
            <a:pathLst>
              <a:path w="3049219" h="2910618">
                <a:moveTo>
                  <a:pt x="0" y="0"/>
                </a:moveTo>
                <a:lnTo>
                  <a:pt x="3049218" y="0"/>
                </a:lnTo>
                <a:lnTo>
                  <a:pt x="3049218" y="2910617"/>
                </a:lnTo>
                <a:lnTo>
                  <a:pt x="0" y="2910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TextBox 7"/>
          <p:cNvSpPr txBox="1"/>
          <p:nvPr/>
        </p:nvSpPr>
        <p:spPr>
          <a:xfrm>
            <a:off x="721354" y="1818471"/>
            <a:ext cx="4301198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 spc="-27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Research Quesion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13524" y="2444083"/>
            <a:ext cx="7467355" cy="2270427"/>
            <a:chOff x="0" y="0"/>
            <a:chExt cx="1966711" cy="5979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6711" cy="597973"/>
            </a:xfrm>
            <a:custGeom>
              <a:avLst/>
              <a:gdLst/>
              <a:ahLst/>
              <a:cxnLst/>
              <a:rect l="l" t="t" r="r" b="b"/>
              <a:pathLst>
                <a:path w="1966711" h="597973">
                  <a:moveTo>
                    <a:pt x="20735" y="0"/>
                  </a:moveTo>
                  <a:lnTo>
                    <a:pt x="1945976" y="0"/>
                  </a:lnTo>
                  <a:cubicBezTo>
                    <a:pt x="1951475" y="0"/>
                    <a:pt x="1956749" y="2185"/>
                    <a:pt x="1960638" y="6073"/>
                  </a:cubicBezTo>
                  <a:cubicBezTo>
                    <a:pt x="1964526" y="9962"/>
                    <a:pt x="1966711" y="15236"/>
                    <a:pt x="1966711" y="20735"/>
                  </a:cubicBezTo>
                  <a:lnTo>
                    <a:pt x="1966711" y="577237"/>
                  </a:lnTo>
                  <a:cubicBezTo>
                    <a:pt x="1966711" y="582737"/>
                    <a:pt x="1964526" y="588011"/>
                    <a:pt x="1960638" y="591899"/>
                  </a:cubicBezTo>
                  <a:cubicBezTo>
                    <a:pt x="1956749" y="595788"/>
                    <a:pt x="1951475" y="597973"/>
                    <a:pt x="1945976" y="597973"/>
                  </a:cubicBezTo>
                  <a:lnTo>
                    <a:pt x="20735" y="597973"/>
                  </a:lnTo>
                  <a:cubicBezTo>
                    <a:pt x="15236" y="597973"/>
                    <a:pt x="9962" y="595788"/>
                    <a:pt x="6073" y="591899"/>
                  </a:cubicBezTo>
                  <a:cubicBezTo>
                    <a:pt x="2185" y="588011"/>
                    <a:pt x="0" y="582737"/>
                    <a:pt x="0" y="577237"/>
                  </a:cubicBezTo>
                  <a:lnTo>
                    <a:pt x="0" y="20735"/>
                  </a:lnTo>
                  <a:cubicBezTo>
                    <a:pt x="0" y="15236"/>
                    <a:pt x="2185" y="9962"/>
                    <a:pt x="6073" y="6073"/>
                  </a:cubicBezTo>
                  <a:cubicBezTo>
                    <a:pt x="9962" y="2185"/>
                    <a:pt x="15236" y="0"/>
                    <a:pt x="207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1966711" cy="569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20225" y="2654101"/>
            <a:ext cx="5713195" cy="1821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799" spc="-27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To what extent can behaviour-based analysis detect and classify ransomware activity in a controlled environment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32254" y="2287994"/>
            <a:ext cx="8118206" cy="1221835"/>
            <a:chOff x="0" y="0"/>
            <a:chExt cx="2138128" cy="321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8128" cy="321800"/>
            </a:xfrm>
            <a:custGeom>
              <a:avLst/>
              <a:gdLst/>
              <a:ahLst/>
              <a:cxnLst/>
              <a:rect l="l" t="t" r="r" b="b"/>
              <a:pathLst>
                <a:path w="2138128" h="321800">
                  <a:moveTo>
                    <a:pt x="19073" y="0"/>
                  </a:moveTo>
                  <a:lnTo>
                    <a:pt x="2119055" y="0"/>
                  </a:lnTo>
                  <a:cubicBezTo>
                    <a:pt x="2129589" y="0"/>
                    <a:pt x="2138128" y="8539"/>
                    <a:pt x="2138128" y="19073"/>
                  </a:cubicBezTo>
                  <a:lnTo>
                    <a:pt x="2138128" y="302727"/>
                  </a:lnTo>
                  <a:cubicBezTo>
                    <a:pt x="2138128" y="313261"/>
                    <a:pt x="2129589" y="321800"/>
                    <a:pt x="2119055" y="321800"/>
                  </a:cubicBezTo>
                  <a:lnTo>
                    <a:pt x="19073" y="321800"/>
                  </a:lnTo>
                  <a:cubicBezTo>
                    <a:pt x="8539" y="321800"/>
                    <a:pt x="0" y="313261"/>
                    <a:pt x="0" y="302727"/>
                  </a:cubicBezTo>
                  <a:lnTo>
                    <a:pt x="0" y="19073"/>
                  </a:lnTo>
                  <a:cubicBezTo>
                    <a:pt x="0" y="8539"/>
                    <a:pt x="8539" y="0"/>
                    <a:pt x="190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2138128" cy="29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32254" y="3921665"/>
            <a:ext cx="8118206" cy="1221835"/>
            <a:chOff x="0" y="0"/>
            <a:chExt cx="2138128" cy="321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8128" cy="321800"/>
            </a:xfrm>
            <a:custGeom>
              <a:avLst/>
              <a:gdLst/>
              <a:ahLst/>
              <a:cxnLst/>
              <a:rect l="l" t="t" r="r" b="b"/>
              <a:pathLst>
                <a:path w="2138128" h="321800">
                  <a:moveTo>
                    <a:pt x="19073" y="0"/>
                  </a:moveTo>
                  <a:lnTo>
                    <a:pt x="2119055" y="0"/>
                  </a:lnTo>
                  <a:cubicBezTo>
                    <a:pt x="2129589" y="0"/>
                    <a:pt x="2138128" y="8539"/>
                    <a:pt x="2138128" y="19073"/>
                  </a:cubicBezTo>
                  <a:lnTo>
                    <a:pt x="2138128" y="302727"/>
                  </a:lnTo>
                  <a:cubicBezTo>
                    <a:pt x="2138128" y="313261"/>
                    <a:pt x="2129589" y="321800"/>
                    <a:pt x="2119055" y="321800"/>
                  </a:cubicBezTo>
                  <a:lnTo>
                    <a:pt x="19073" y="321800"/>
                  </a:lnTo>
                  <a:cubicBezTo>
                    <a:pt x="8539" y="321800"/>
                    <a:pt x="0" y="313261"/>
                    <a:pt x="0" y="302727"/>
                  </a:cubicBezTo>
                  <a:lnTo>
                    <a:pt x="0" y="19073"/>
                  </a:lnTo>
                  <a:cubicBezTo>
                    <a:pt x="0" y="8539"/>
                    <a:pt x="8539" y="0"/>
                    <a:pt x="190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2138128" cy="29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32254" y="5457825"/>
            <a:ext cx="8118206" cy="1221835"/>
            <a:chOff x="0" y="0"/>
            <a:chExt cx="2138128" cy="321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8128" cy="321800"/>
            </a:xfrm>
            <a:custGeom>
              <a:avLst/>
              <a:gdLst/>
              <a:ahLst/>
              <a:cxnLst/>
              <a:rect l="l" t="t" r="r" b="b"/>
              <a:pathLst>
                <a:path w="2138128" h="321800">
                  <a:moveTo>
                    <a:pt x="19073" y="0"/>
                  </a:moveTo>
                  <a:lnTo>
                    <a:pt x="2119055" y="0"/>
                  </a:lnTo>
                  <a:cubicBezTo>
                    <a:pt x="2129589" y="0"/>
                    <a:pt x="2138128" y="8539"/>
                    <a:pt x="2138128" y="19073"/>
                  </a:cubicBezTo>
                  <a:lnTo>
                    <a:pt x="2138128" y="302727"/>
                  </a:lnTo>
                  <a:cubicBezTo>
                    <a:pt x="2138128" y="313261"/>
                    <a:pt x="2129589" y="321800"/>
                    <a:pt x="2119055" y="321800"/>
                  </a:cubicBezTo>
                  <a:lnTo>
                    <a:pt x="19073" y="321800"/>
                  </a:lnTo>
                  <a:cubicBezTo>
                    <a:pt x="8539" y="321800"/>
                    <a:pt x="0" y="313261"/>
                    <a:pt x="0" y="302727"/>
                  </a:cubicBezTo>
                  <a:lnTo>
                    <a:pt x="0" y="19073"/>
                  </a:lnTo>
                  <a:cubicBezTo>
                    <a:pt x="0" y="8539"/>
                    <a:pt x="8539" y="0"/>
                    <a:pt x="190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2138128" cy="29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32254" y="6993985"/>
            <a:ext cx="8118206" cy="1221835"/>
            <a:chOff x="0" y="0"/>
            <a:chExt cx="2138128" cy="321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38128" cy="321800"/>
            </a:xfrm>
            <a:custGeom>
              <a:avLst/>
              <a:gdLst/>
              <a:ahLst/>
              <a:cxnLst/>
              <a:rect l="l" t="t" r="r" b="b"/>
              <a:pathLst>
                <a:path w="2138128" h="321800">
                  <a:moveTo>
                    <a:pt x="19073" y="0"/>
                  </a:moveTo>
                  <a:lnTo>
                    <a:pt x="2119055" y="0"/>
                  </a:lnTo>
                  <a:cubicBezTo>
                    <a:pt x="2129589" y="0"/>
                    <a:pt x="2138128" y="8539"/>
                    <a:pt x="2138128" y="19073"/>
                  </a:cubicBezTo>
                  <a:lnTo>
                    <a:pt x="2138128" y="302727"/>
                  </a:lnTo>
                  <a:cubicBezTo>
                    <a:pt x="2138128" y="313261"/>
                    <a:pt x="2129589" y="321800"/>
                    <a:pt x="2119055" y="321800"/>
                  </a:cubicBezTo>
                  <a:lnTo>
                    <a:pt x="19073" y="321800"/>
                  </a:lnTo>
                  <a:cubicBezTo>
                    <a:pt x="8539" y="321800"/>
                    <a:pt x="0" y="313261"/>
                    <a:pt x="0" y="302727"/>
                  </a:cubicBezTo>
                  <a:lnTo>
                    <a:pt x="0" y="19073"/>
                  </a:lnTo>
                  <a:cubicBezTo>
                    <a:pt x="0" y="8539"/>
                    <a:pt x="8539" y="0"/>
                    <a:pt x="190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2138128" cy="29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32254" y="8520619"/>
            <a:ext cx="8118206" cy="1221835"/>
            <a:chOff x="0" y="0"/>
            <a:chExt cx="2138128" cy="321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38128" cy="321800"/>
            </a:xfrm>
            <a:custGeom>
              <a:avLst/>
              <a:gdLst/>
              <a:ahLst/>
              <a:cxnLst/>
              <a:rect l="l" t="t" r="r" b="b"/>
              <a:pathLst>
                <a:path w="2138128" h="321800">
                  <a:moveTo>
                    <a:pt x="19073" y="0"/>
                  </a:moveTo>
                  <a:lnTo>
                    <a:pt x="2119055" y="0"/>
                  </a:lnTo>
                  <a:cubicBezTo>
                    <a:pt x="2129589" y="0"/>
                    <a:pt x="2138128" y="8539"/>
                    <a:pt x="2138128" y="19073"/>
                  </a:cubicBezTo>
                  <a:lnTo>
                    <a:pt x="2138128" y="302727"/>
                  </a:lnTo>
                  <a:cubicBezTo>
                    <a:pt x="2138128" y="313261"/>
                    <a:pt x="2129589" y="321800"/>
                    <a:pt x="2119055" y="321800"/>
                  </a:cubicBezTo>
                  <a:lnTo>
                    <a:pt x="19073" y="321800"/>
                  </a:lnTo>
                  <a:cubicBezTo>
                    <a:pt x="8539" y="321800"/>
                    <a:pt x="0" y="313261"/>
                    <a:pt x="0" y="302727"/>
                  </a:cubicBezTo>
                  <a:lnTo>
                    <a:pt x="0" y="19073"/>
                  </a:lnTo>
                  <a:cubicBezTo>
                    <a:pt x="0" y="8539"/>
                    <a:pt x="8539" y="0"/>
                    <a:pt x="1907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8575"/>
              <a:ext cx="2138128" cy="29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15220" y="2745558"/>
            <a:ext cx="6752273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Research behaviour - based detection techniques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64187" y="4379230"/>
            <a:ext cx="5895261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Identify ransomware file-system behviours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1094" y="5915390"/>
            <a:ext cx="811820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Design and build a detection program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1094" y="7451185"/>
            <a:ext cx="811820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Test with controlled ransomware activity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2254" y="8987344"/>
            <a:ext cx="8118206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Evaluate accuracy, detection time and false positives</a:t>
            </a:r>
          </a:p>
        </p:txBody>
      </p:sp>
      <p:pic>
        <p:nvPicPr>
          <p:cNvPr id="33" name="Audio 32">
            <a:hlinkClick r:id="" action="ppaction://media"/>
            <a:extLst>
              <a:ext uri="{FF2B5EF4-FFF2-40B4-BE49-F238E27FC236}">
                <a16:creationId xmlns:a16="http://schemas.microsoft.com/office/drawing/2014/main" id="{112B49E9-C6FD-EE64-735F-1028FD3279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94"/>
    </mc:Choice>
    <mc:Fallback>
      <p:transition spd="slow" advTm="326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777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5829196" y="-1632068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>
            <a:off x="-2078450" y="6488347"/>
            <a:ext cx="5091183" cy="4658259"/>
          </a:xfrm>
          <a:custGeom>
            <a:avLst/>
            <a:gdLst/>
            <a:ahLst/>
            <a:cxnLst/>
            <a:rect l="l" t="t" r="r" b="b"/>
            <a:pathLst>
              <a:path w="5091183" h="4658259">
                <a:moveTo>
                  <a:pt x="0" y="0"/>
                </a:moveTo>
                <a:lnTo>
                  <a:pt x="5091183" y="0"/>
                </a:lnTo>
                <a:lnTo>
                  <a:pt x="5091183" y="4658260"/>
                </a:lnTo>
                <a:lnTo>
                  <a:pt x="0" y="465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-1554844" y="-1808229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7" y="0"/>
                </a:lnTo>
                <a:lnTo>
                  <a:pt x="4917607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grpSp>
        <p:nvGrpSpPr>
          <p:cNvPr id="6" name="Group 6"/>
          <p:cNvGrpSpPr/>
          <p:nvPr/>
        </p:nvGrpSpPr>
        <p:grpSpPr>
          <a:xfrm>
            <a:off x="1800396" y="3438400"/>
            <a:ext cx="7199259" cy="2769953"/>
            <a:chOff x="0" y="0"/>
            <a:chExt cx="1737110" cy="6683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37110" cy="668362"/>
            </a:xfrm>
            <a:custGeom>
              <a:avLst/>
              <a:gdLst/>
              <a:ahLst/>
              <a:cxnLst/>
              <a:rect l="l" t="t" r="r" b="b"/>
              <a:pathLst>
                <a:path w="1737110" h="668362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80488" y="3372423"/>
            <a:ext cx="7199259" cy="2769953"/>
            <a:chOff x="0" y="0"/>
            <a:chExt cx="1737110" cy="6683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7110" cy="668362"/>
            </a:xfrm>
            <a:custGeom>
              <a:avLst/>
              <a:gdLst/>
              <a:ahLst/>
              <a:cxnLst/>
              <a:rect l="l" t="t" r="r" b="b"/>
              <a:pathLst>
                <a:path w="1737110" h="668362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00396" y="6488347"/>
            <a:ext cx="7199259" cy="2769953"/>
            <a:chOff x="0" y="0"/>
            <a:chExt cx="1737110" cy="6683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7110" cy="668362"/>
            </a:xfrm>
            <a:custGeom>
              <a:avLst/>
              <a:gdLst/>
              <a:ahLst/>
              <a:cxnLst/>
              <a:rect l="l" t="t" r="r" b="b"/>
              <a:pathLst>
                <a:path w="1737110" h="668362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80488" y="6488347"/>
            <a:ext cx="7199259" cy="2769953"/>
            <a:chOff x="0" y="0"/>
            <a:chExt cx="1737110" cy="6683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37110" cy="668362"/>
            </a:xfrm>
            <a:custGeom>
              <a:avLst/>
              <a:gdLst/>
              <a:ahLst/>
              <a:cxnLst/>
              <a:rect l="l" t="t" r="r" b="b"/>
              <a:pathLst>
                <a:path w="1737110" h="668362">
                  <a:moveTo>
                    <a:pt x="21508" y="0"/>
                  </a:moveTo>
                  <a:lnTo>
                    <a:pt x="1715602" y="0"/>
                  </a:lnTo>
                  <a:cubicBezTo>
                    <a:pt x="1721306" y="0"/>
                    <a:pt x="1726777" y="2266"/>
                    <a:pt x="1730810" y="6299"/>
                  </a:cubicBezTo>
                  <a:cubicBezTo>
                    <a:pt x="1734844" y="10333"/>
                    <a:pt x="1737110" y="15803"/>
                    <a:pt x="1737110" y="21508"/>
                  </a:cubicBezTo>
                  <a:lnTo>
                    <a:pt x="1737110" y="646854"/>
                  </a:lnTo>
                  <a:cubicBezTo>
                    <a:pt x="1737110" y="658733"/>
                    <a:pt x="1727480" y="668362"/>
                    <a:pt x="1715602" y="668362"/>
                  </a:cubicBezTo>
                  <a:lnTo>
                    <a:pt x="21508" y="668362"/>
                  </a:lnTo>
                  <a:cubicBezTo>
                    <a:pt x="9629" y="668362"/>
                    <a:pt x="0" y="658733"/>
                    <a:pt x="0" y="646854"/>
                  </a:cubicBezTo>
                  <a:lnTo>
                    <a:pt x="0" y="21508"/>
                  </a:lnTo>
                  <a:cubicBezTo>
                    <a:pt x="0" y="9629"/>
                    <a:pt x="9629" y="0"/>
                    <a:pt x="2150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1737110" cy="639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33456" y="1747458"/>
            <a:ext cx="13132399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 spc="-144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Technical approach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44358" y="3658662"/>
            <a:ext cx="4772224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Isolated Virtual Machine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7134" y="4415032"/>
            <a:ext cx="6425783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 spc="-22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The system will run inside a secure virtual environment, so no malware can access external networks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07524" y="3593568"/>
            <a:ext cx="2406077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Simulation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67227" y="4185775"/>
            <a:ext cx="6425783" cy="102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The project will include a program that simulates how ransomware modifies files, alongside legitimate system activity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27432" y="6709493"/>
            <a:ext cx="2406077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Detection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87134" y="7301700"/>
            <a:ext cx="6425783" cy="102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A script written in Python will be used to detect activity such as rapid file modification, file extension changes and unexpected access patterns.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707524" y="6709493"/>
            <a:ext cx="2406077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Alerting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7227" y="7301700"/>
            <a:ext cx="6425783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Any detected suspicious behaviour will trigger an alert to a specified system.</a:t>
            </a:r>
          </a:p>
        </p:txBody>
      </p:sp>
      <p:sp>
        <p:nvSpPr>
          <p:cNvPr id="27" name="Freeform 27"/>
          <p:cNvSpPr/>
          <p:nvPr/>
        </p:nvSpPr>
        <p:spPr>
          <a:xfrm flipH="1">
            <a:off x="16665660" y="6828820"/>
            <a:ext cx="3244681" cy="2968772"/>
          </a:xfrm>
          <a:custGeom>
            <a:avLst/>
            <a:gdLst/>
            <a:ahLst/>
            <a:cxnLst/>
            <a:rect l="l" t="t" r="r" b="b"/>
            <a:pathLst>
              <a:path w="3244681" h="2968772">
                <a:moveTo>
                  <a:pt x="3244680" y="0"/>
                </a:moveTo>
                <a:lnTo>
                  <a:pt x="0" y="0"/>
                </a:lnTo>
                <a:lnTo>
                  <a:pt x="0" y="2968773"/>
                </a:lnTo>
                <a:lnTo>
                  <a:pt x="3244680" y="2968773"/>
                </a:lnTo>
                <a:lnTo>
                  <a:pt x="324468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28" name="Freeform 28"/>
          <p:cNvSpPr/>
          <p:nvPr/>
        </p:nvSpPr>
        <p:spPr>
          <a:xfrm rot="-5400000">
            <a:off x="16414376" y="9273678"/>
            <a:ext cx="3049219" cy="2910618"/>
          </a:xfrm>
          <a:custGeom>
            <a:avLst/>
            <a:gdLst/>
            <a:ahLst/>
            <a:cxnLst/>
            <a:rect l="l" t="t" r="r" b="b"/>
            <a:pathLst>
              <a:path w="3049219" h="2910618">
                <a:moveTo>
                  <a:pt x="0" y="0"/>
                </a:moveTo>
                <a:lnTo>
                  <a:pt x="3049218" y="0"/>
                </a:lnTo>
                <a:lnTo>
                  <a:pt x="3049218" y="2910618"/>
                </a:lnTo>
                <a:lnTo>
                  <a:pt x="0" y="2910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8192E81B-C796-27C0-36EB-2EB73D4FBE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00"/>
    </mc:Choice>
    <mc:Fallback>
      <p:transition spd="slow" advTm="4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777"/>
            </a:stretch>
          </a:blipFill>
        </p:spPr>
        <p:txBody>
          <a:bodyPr/>
          <a:lstStyle/>
          <a:p>
            <a:endParaRPr lang="en-IE"/>
          </a:p>
        </p:txBody>
      </p:sp>
      <p:grpSp>
        <p:nvGrpSpPr>
          <p:cNvPr id="3" name="Group 3"/>
          <p:cNvGrpSpPr/>
          <p:nvPr/>
        </p:nvGrpSpPr>
        <p:grpSpPr>
          <a:xfrm>
            <a:off x="1154436" y="2657988"/>
            <a:ext cx="4665082" cy="3554050"/>
            <a:chOff x="0" y="0"/>
            <a:chExt cx="1228663" cy="9360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28663" cy="936046"/>
            </a:xfrm>
            <a:custGeom>
              <a:avLst/>
              <a:gdLst/>
              <a:ahLst/>
              <a:cxnLst/>
              <a:rect l="l" t="t" r="r" b="b"/>
              <a:pathLst>
                <a:path w="1228663" h="936046">
                  <a:moveTo>
                    <a:pt x="33191" y="0"/>
                  </a:moveTo>
                  <a:lnTo>
                    <a:pt x="1195473" y="0"/>
                  </a:lnTo>
                  <a:cubicBezTo>
                    <a:pt x="1213803" y="0"/>
                    <a:pt x="1228663" y="14860"/>
                    <a:pt x="1228663" y="33191"/>
                  </a:cubicBezTo>
                  <a:lnTo>
                    <a:pt x="1228663" y="902855"/>
                  </a:lnTo>
                  <a:cubicBezTo>
                    <a:pt x="1228663" y="921186"/>
                    <a:pt x="1213803" y="936046"/>
                    <a:pt x="1195473" y="936046"/>
                  </a:cubicBezTo>
                  <a:lnTo>
                    <a:pt x="33191" y="936046"/>
                  </a:lnTo>
                  <a:cubicBezTo>
                    <a:pt x="14860" y="936046"/>
                    <a:pt x="0" y="921186"/>
                    <a:pt x="0" y="902855"/>
                  </a:cubicBezTo>
                  <a:lnTo>
                    <a:pt x="0" y="33191"/>
                  </a:lnTo>
                  <a:cubicBezTo>
                    <a:pt x="0" y="14860"/>
                    <a:pt x="14860" y="0"/>
                    <a:pt x="331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228663" cy="907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99572" y="1085850"/>
            <a:ext cx="18162088" cy="86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spc="-122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EValuation + Contribution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5001" y="3077757"/>
            <a:ext cx="3925245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 spc="-27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Detection accuracy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5001" y="3834517"/>
            <a:ext cx="3925245" cy="102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Check whether the system can tell normal activity from malicious activity</a:t>
            </a:r>
          </a:p>
        </p:txBody>
      </p:sp>
      <p:sp>
        <p:nvSpPr>
          <p:cNvPr id="9" name="Freeform 9"/>
          <p:cNvSpPr/>
          <p:nvPr/>
        </p:nvSpPr>
        <p:spPr>
          <a:xfrm>
            <a:off x="14660150" y="-3498594"/>
            <a:ext cx="6875710" cy="6997189"/>
          </a:xfrm>
          <a:custGeom>
            <a:avLst/>
            <a:gdLst/>
            <a:ahLst/>
            <a:cxnLst/>
            <a:rect l="l" t="t" r="r" b="b"/>
            <a:pathLst>
              <a:path w="6875710" h="6997189">
                <a:moveTo>
                  <a:pt x="0" y="0"/>
                </a:moveTo>
                <a:lnTo>
                  <a:pt x="6875710" y="0"/>
                </a:lnTo>
                <a:lnTo>
                  <a:pt x="6875710" y="6997188"/>
                </a:lnTo>
                <a:lnTo>
                  <a:pt x="0" y="6997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0" name="Freeform 10"/>
          <p:cNvSpPr/>
          <p:nvPr/>
        </p:nvSpPr>
        <p:spPr>
          <a:xfrm>
            <a:off x="-1878487" y="8375324"/>
            <a:ext cx="3756975" cy="3823353"/>
          </a:xfrm>
          <a:custGeom>
            <a:avLst/>
            <a:gdLst/>
            <a:ahLst/>
            <a:cxnLst/>
            <a:rect l="l" t="t" r="r" b="b"/>
            <a:pathLst>
              <a:path w="3756975" h="3823353">
                <a:moveTo>
                  <a:pt x="0" y="0"/>
                </a:moveTo>
                <a:lnTo>
                  <a:pt x="3756974" y="0"/>
                </a:lnTo>
                <a:lnTo>
                  <a:pt x="3756974" y="3823352"/>
                </a:lnTo>
                <a:lnTo>
                  <a:pt x="0" y="3823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grpSp>
        <p:nvGrpSpPr>
          <p:cNvPr id="11" name="Group 11"/>
          <p:cNvGrpSpPr/>
          <p:nvPr/>
        </p:nvGrpSpPr>
        <p:grpSpPr>
          <a:xfrm>
            <a:off x="6811459" y="2657988"/>
            <a:ext cx="4665082" cy="3554050"/>
            <a:chOff x="0" y="0"/>
            <a:chExt cx="1228663" cy="9360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8663" cy="936046"/>
            </a:xfrm>
            <a:custGeom>
              <a:avLst/>
              <a:gdLst/>
              <a:ahLst/>
              <a:cxnLst/>
              <a:rect l="l" t="t" r="r" b="b"/>
              <a:pathLst>
                <a:path w="1228663" h="936046">
                  <a:moveTo>
                    <a:pt x="33191" y="0"/>
                  </a:moveTo>
                  <a:lnTo>
                    <a:pt x="1195473" y="0"/>
                  </a:lnTo>
                  <a:cubicBezTo>
                    <a:pt x="1213803" y="0"/>
                    <a:pt x="1228663" y="14860"/>
                    <a:pt x="1228663" y="33191"/>
                  </a:cubicBezTo>
                  <a:lnTo>
                    <a:pt x="1228663" y="902855"/>
                  </a:lnTo>
                  <a:cubicBezTo>
                    <a:pt x="1228663" y="921186"/>
                    <a:pt x="1213803" y="936046"/>
                    <a:pt x="1195473" y="936046"/>
                  </a:cubicBezTo>
                  <a:lnTo>
                    <a:pt x="33191" y="936046"/>
                  </a:lnTo>
                  <a:cubicBezTo>
                    <a:pt x="14860" y="936046"/>
                    <a:pt x="0" y="921186"/>
                    <a:pt x="0" y="902855"/>
                  </a:cubicBezTo>
                  <a:lnTo>
                    <a:pt x="0" y="33191"/>
                  </a:lnTo>
                  <a:cubicBezTo>
                    <a:pt x="0" y="14860"/>
                    <a:pt x="14860" y="0"/>
                    <a:pt x="331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1228663" cy="907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292024" y="3077757"/>
            <a:ext cx="3574548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 spc="-27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Detection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92024" y="3834517"/>
            <a:ext cx="3925245" cy="136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Evaluate how early the attack is caught. Also check if the detection is still accurate when the attack is slow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468482" y="2625529"/>
            <a:ext cx="4665082" cy="3554050"/>
            <a:chOff x="0" y="0"/>
            <a:chExt cx="1228663" cy="9360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28663" cy="936046"/>
            </a:xfrm>
            <a:custGeom>
              <a:avLst/>
              <a:gdLst/>
              <a:ahLst/>
              <a:cxnLst/>
              <a:rect l="l" t="t" r="r" b="b"/>
              <a:pathLst>
                <a:path w="1228663" h="936046">
                  <a:moveTo>
                    <a:pt x="33191" y="0"/>
                  </a:moveTo>
                  <a:lnTo>
                    <a:pt x="1195473" y="0"/>
                  </a:lnTo>
                  <a:cubicBezTo>
                    <a:pt x="1213803" y="0"/>
                    <a:pt x="1228663" y="14860"/>
                    <a:pt x="1228663" y="33191"/>
                  </a:cubicBezTo>
                  <a:lnTo>
                    <a:pt x="1228663" y="902855"/>
                  </a:lnTo>
                  <a:cubicBezTo>
                    <a:pt x="1228663" y="921186"/>
                    <a:pt x="1213803" y="936046"/>
                    <a:pt x="1195473" y="936046"/>
                  </a:cubicBezTo>
                  <a:lnTo>
                    <a:pt x="33191" y="936046"/>
                  </a:lnTo>
                  <a:cubicBezTo>
                    <a:pt x="14860" y="936046"/>
                    <a:pt x="0" y="921186"/>
                    <a:pt x="0" y="902855"/>
                  </a:cubicBezTo>
                  <a:lnTo>
                    <a:pt x="0" y="33191"/>
                  </a:lnTo>
                  <a:cubicBezTo>
                    <a:pt x="0" y="14860"/>
                    <a:pt x="14860" y="0"/>
                    <a:pt x="331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1064A">
                    <a:alpha val="100000"/>
                  </a:srgbClr>
                </a:gs>
                <a:gs pos="100000">
                  <a:srgbClr val="2800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1228663" cy="907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949047" y="3045298"/>
            <a:ext cx="4279637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 spc="-27">
                <a:solidFill>
                  <a:srgbClr val="FC9AD6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False - positive rate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49047" y="3802058"/>
            <a:ext cx="3925245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Check how often leigitmate activity is causing alerts</a:t>
            </a:r>
          </a:p>
        </p:txBody>
      </p:sp>
      <p:sp>
        <p:nvSpPr>
          <p:cNvPr id="21" name="Freeform 21"/>
          <p:cNvSpPr/>
          <p:nvPr/>
        </p:nvSpPr>
        <p:spPr>
          <a:xfrm>
            <a:off x="2015686" y="6916887"/>
            <a:ext cx="13565515" cy="2088057"/>
          </a:xfrm>
          <a:custGeom>
            <a:avLst/>
            <a:gdLst/>
            <a:ahLst/>
            <a:cxnLst/>
            <a:rect l="l" t="t" r="r" b="b"/>
            <a:pathLst>
              <a:path w="13565515" h="2088057">
                <a:moveTo>
                  <a:pt x="0" y="0"/>
                </a:moveTo>
                <a:lnTo>
                  <a:pt x="13565515" y="0"/>
                </a:lnTo>
                <a:lnTo>
                  <a:pt x="13565515" y="2088058"/>
                </a:lnTo>
                <a:lnTo>
                  <a:pt x="0" y="2088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2612" b="-12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22" name="TextBox 22"/>
          <p:cNvSpPr txBox="1"/>
          <p:nvPr/>
        </p:nvSpPr>
        <p:spPr>
          <a:xfrm>
            <a:off x="2699572" y="7640876"/>
            <a:ext cx="11540646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Contribution: A practical protoype showing how behavioural and file-system analysis can strengthen endpoint security, without relying on known signatures.</a:t>
            </a: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A3F4321A-DB1A-1E31-B114-1B903BDEDB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076"/>
    </mc:Choice>
    <mc:Fallback>
      <p:transition spd="slow" advTm="42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7777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TextBox 3"/>
          <p:cNvSpPr txBox="1"/>
          <p:nvPr/>
        </p:nvSpPr>
        <p:spPr>
          <a:xfrm>
            <a:off x="3997860" y="1633835"/>
            <a:ext cx="10292280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300" spc="-126">
                <a:solidFill>
                  <a:srgbClr val="FBFBFB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Scope + Feasibility</a:t>
            </a:r>
          </a:p>
        </p:txBody>
      </p:sp>
      <p:sp>
        <p:nvSpPr>
          <p:cNvPr id="4" name="Freeform 4"/>
          <p:cNvSpPr/>
          <p:nvPr/>
        </p:nvSpPr>
        <p:spPr>
          <a:xfrm>
            <a:off x="2310171" y="4156557"/>
            <a:ext cx="6064479" cy="5101743"/>
          </a:xfrm>
          <a:custGeom>
            <a:avLst/>
            <a:gdLst/>
            <a:ahLst/>
            <a:cxnLst/>
            <a:rect l="l" t="t" r="r" b="b"/>
            <a:pathLst>
              <a:path w="6064479" h="5101743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9913350" y="4156557"/>
            <a:ext cx="6064479" cy="5101743"/>
          </a:xfrm>
          <a:custGeom>
            <a:avLst/>
            <a:gdLst/>
            <a:ahLst/>
            <a:cxnLst/>
            <a:rect l="l" t="t" r="r" b="b"/>
            <a:pathLst>
              <a:path w="6064479" h="5101743">
                <a:moveTo>
                  <a:pt x="0" y="0"/>
                </a:moveTo>
                <a:lnTo>
                  <a:pt x="6064479" y="0"/>
                </a:lnTo>
                <a:lnTo>
                  <a:pt x="6064479" y="5101743"/>
                </a:lnTo>
                <a:lnTo>
                  <a:pt x="0" y="5101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TextBox 6"/>
          <p:cNvSpPr txBox="1"/>
          <p:nvPr/>
        </p:nvSpPr>
        <p:spPr>
          <a:xfrm>
            <a:off x="4139372" y="4796876"/>
            <a:ext cx="2406077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5813" y="5808183"/>
            <a:ext cx="5713195" cy="204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The core program is a working system that detects ransomware activity and raises an alert</a:t>
            </a:r>
          </a:p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If time allows, an extention will be added including other malware types to detect and classify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7951" y="4796876"/>
            <a:ext cx="4235278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 spc="-27">
                <a:solidFill>
                  <a:srgbClr val="FBFBFB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Feasibility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88992" y="5808183"/>
            <a:ext cx="5713195" cy="239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Widely available open-source sandboxes and VM images</a:t>
            </a:r>
          </a:p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Exisiting security tools to assist with development and previous expierence in Python</a:t>
            </a:r>
          </a:p>
          <a:p>
            <a:pPr marL="453390" lvl="1" indent="-226695" algn="l">
              <a:lnSpc>
                <a:spcPts val="2730"/>
              </a:lnSpc>
              <a:buFont typeface="Arial"/>
              <a:buChar char="•"/>
            </a:pPr>
            <a:r>
              <a:rPr lang="en-US" sz="2100" spc="-21">
                <a:solidFill>
                  <a:srgbClr val="FBFBFB"/>
                </a:solidFill>
                <a:latin typeface="TT Lakes Neue"/>
                <a:ea typeface="TT Lakes Neue"/>
                <a:cs typeface="TT Lakes Neue"/>
                <a:sym typeface="TT Lakes Neue"/>
              </a:rPr>
              <a:t>Project will be built incrementally, with the core detection being developed first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233041" y="3635693"/>
            <a:ext cx="1919038" cy="6915453"/>
          </a:xfrm>
          <a:custGeom>
            <a:avLst/>
            <a:gdLst/>
            <a:ahLst/>
            <a:cxnLst/>
            <a:rect l="l" t="t" r="r" b="b"/>
            <a:pathLst>
              <a:path w="1919038" h="6915453">
                <a:moveTo>
                  <a:pt x="0" y="0"/>
                </a:moveTo>
                <a:lnTo>
                  <a:pt x="1919038" y="0"/>
                </a:lnTo>
                <a:lnTo>
                  <a:pt x="1919038" y="6915453"/>
                </a:lnTo>
                <a:lnTo>
                  <a:pt x="0" y="6915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1" name="Freeform 11"/>
          <p:cNvSpPr/>
          <p:nvPr/>
        </p:nvSpPr>
        <p:spPr>
          <a:xfrm flipH="1">
            <a:off x="-864079" y="3635693"/>
            <a:ext cx="1919038" cy="6915453"/>
          </a:xfrm>
          <a:custGeom>
            <a:avLst/>
            <a:gdLst/>
            <a:ahLst/>
            <a:cxnLst/>
            <a:rect l="l" t="t" r="r" b="b"/>
            <a:pathLst>
              <a:path w="1919038" h="6915453">
                <a:moveTo>
                  <a:pt x="1919038" y="0"/>
                </a:moveTo>
                <a:lnTo>
                  <a:pt x="0" y="0"/>
                </a:lnTo>
                <a:lnTo>
                  <a:pt x="0" y="6915453"/>
                </a:lnTo>
                <a:lnTo>
                  <a:pt x="1919038" y="6915453"/>
                </a:lnTo>
                <a:lnTo>
                  <a:pt x="1919038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2" name="Freeform 12"/>
          <p:cNvSpPr/>
          <p:nvPr/>
        </p:nvSpPr>
        <p:spPr>
          <a:xfrm>
            <a:off x="15781476" y="-2314447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3" name="Freeform 13"/>
          <p:cNvSpPr/>
          <p:nvPr/>
        </p:nvSpPr>
        <p:spPr>
          <a:xfrm>
            <a:off x="-2411084" y="-2314447"/>
            <a:ext cx="4917608" cy="5004491"/>
          </a:xfrm>
          <a:custGeom>
            <a:avLst/>
            <a:gdLst/>
            <a:ahLst/>
            <a:cxnLst/>
            <a:rect l="l" t="t" r="r" b="b"/>
            <a:pathLst>
              <a:path w="4917608" h="5004491">
                <a:moveTo>
                  <a:pt x="0" y="0"/>
                </a:moveTo>
                <a:lnTo>
                  <a:pt x="4917608" y="0"/>
                </a:lnTo>
                <a:lnTo>
                  <a:pt x="4917608" y="5004491"/>
                </a:lnTo>
                <a:lnTo>
                  <a:pt x="0" y="5004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4" name="Freeform 14"/>
          <p:cNvSpPr/>
          <p:nvPr/>
        </p:nvSpPr>
        <p:spPr>
          <a:xfrm flipH="1">
            <a:off x="13213006" y="1219642"/>
            <a:ext cx="2154269" cy="1971082"/>
          </a:xfrm>
          <a:custGeom>
            <a:avLst/>
            <a:gdLst/>
            <a:ahLst/>
            <a:cxnLst/>
            <a:rect l="l" t="t" r="r" b="b"/>
            <a:pathLst>
              <a:path w="2154269" h="1971082">
                <a:moveTo>
                  <a:pt x="2154269" y="0"/>
                </a:moveTo>
                <a:lnTo>
                  <a:pt x="0" y="0"/>
                </a:lnTo>
                <a:lnTo>
                  <a:pt x="0" y="1971083"/>
                </a:lnTo>
                <a:lnTo>
                  <a:pt x="2154269" y="1971083"/>
                </a:lnTo>
                <a:lnTo>
                  <a:pt x="2154269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5" name="Freeform 15"/>
          <p:cNvSpPr/>
          <p:nvPr/>
        </p:nvSpPr>
        <p:spPr>
          <a:xfrm>
            <a:off x="3530049" y="1028700"/>
            <a:ext cx="1218647" cy="1115020"/>
          </a:xfrm>
          <a:custGeom>
            <a:avLst/>
            <a:gdLst/>
            <a:ahLst/>
            <a:cxnLst/>
            <a:rect l="l" t="t" r="r" b="b"/>
            <a:pathLst>
              <a:path w="1218647" h="1115020">
                <a:moveTo>
                  <a:pt x="0" y="0"/>
                </a:moveTo>
                <a:lnTo>
                  <a:pt x="1218646" y="0"/>
                </a:lnTo>
                <a:lnTo>
                  <a:pt x="1218646" y="1115020"/>
                </a:lnTo>
                <a:lnTo>
                  <a:pt x="0" y="11150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175AB488-6A6F-5E07-62CD-202DD5B6BC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115"/>
    </mc:Choice>
    <mc:Fallback>
      <p:transition spd="slow" advTm="481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363</Words>
  <Application>Microsoft Office PowerPoint</Application>
  <PresentationFormat>Custom</PresentationFormat>
  <Paragraphs>44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TT Lakes Neue</vt:lpstr>
      <vt:lpstr>TT Lakes Neue Bold</vt:lpstr>
      <vt:lpstr>Calibri</vt:lpstr>
      <vt:lpstr>Cosmic Octo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Behaviour-Based malware detection and classification</dc:title>
  <cp:lastModifiedBy>(Student  C00294512) Katie Maher</cp:lastModifiedBy>
  <cp:revision>2</cp:revision>
  <dcterms:created xsi:type="dcterms:W3CDTF">2006-08-16T00:00:00Z</dcterms:created>
  <dcterms:modified xsi:type="dcterms:W3CDTF">2026-10-02T16:46:38Z</dcterms:modified>
  <dc:identifier>DAHW2m_Xv6U</dc:identifier>
</cp:coreProperties>
</file>